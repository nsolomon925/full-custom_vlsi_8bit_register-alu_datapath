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oboto Slab"/>
      <p:regular r:id="rId33"/>
      <p:bold r:id="rId34"/>
    </p:embeddedFont>
    <p:embeddedFont>
      <p:font typeface="Robo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Slab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regular.fntdata"/><Relationship Id="rId12" Type="http://schemas.openxmlformats.org/officeDocument/2006/relationships/slide" Target="slides/slide7.xml"/><Relationship Id="rId34" Type="http://schemas.openxmlformats.org/officeDocument/2006/relationships/font" Target="fonts/RobotoSlab-bold.fntdata"/><Relationship Id="rId15" Type="http://schemas.openxmlformats.org/officeDocument/2006/relationships/slide" Target="slides/slide10.xml"/><Relationship Id="rId37" Type="http://schemas.openxmlformats.org/officeDocument/2006/relationships/font" Target="fonts/Roboto-italic.fntdata"/><Relationship Id="rId14" Type="http://schemas.openxmlformats.org/officeDocument/2006/relationships/slide" Target="slides/slide9.xml"/><Relationship Id="rId36" Type="http://schemas.openxmlformats.org/officeDocument/2006/relationships/font" Target="fonts/Robo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463594f0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463594f0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463594f0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463594f0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5d6d2ff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5d6d2ff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5d6d2ffb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5d6d2ffb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463594f0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463594f0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463594f0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463594f0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463594f07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463594f07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463594f07_1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463594f07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463594f07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463594f07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463594f0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463594f0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463594f07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463594f07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463594f0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463594f0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5d6d2ffb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5d6d2ffb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463594f07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463594f07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463594f07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463594f07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463594f07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463594f07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463594f07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463594f07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463594f07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463594f07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463594f07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5463594f07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463594f07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5463594f07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463594f07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5463594f07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052034037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052034037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463594f07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463594f07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5d6d2ffb5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5d6d2ffb5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798077ef1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798077ef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798077ef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5798077ef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40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39.png"/><Relationship Id="rId6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Relationship Id="rId4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Relationship Id="rId4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2.png"/><Relationship Id="rId4" Type="http://schemas.openxmlformats.org/officeDocument/2006/relationships/image" Target="../media/image33.png"/><Relationship Id="rId5" Type="http://schemas.openxmlformats.org/officeDocument/2006/relationships/image" Target="../media/image43.png"/><Relationship Id="rId6" Type="http://schemas.openxmlformats.org/officeDocument/2006/relationships/image" Target="../media/image4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Relationship Id="rId4" Type="http://schemas.openxmlformats.org/officeDocument/2006/relationships/image" Target="../media/image50.png"/><Relationship Id="rId5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Calculator Using Register File and ALU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Connor Prior, Nahom Solomon, Seth Iris Canonigo, </a:t>
            </a:r>
            <a:r>
              <a:rPr lang="en"/>
              <a:t>Tedla</a:t>
            </a:r>
            <a:r>
              <a:rPr lang="en"/>
              <a:t> Boke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5300" y="1399000"/>
            <a:ext cx="5193399" cy="15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387900" y="3187825"/>
            <a:ext cx="82212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Takes an 8-bit input and stores it in one of seven registers in the Register File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Performs various operations on two values read from the register and outputs the result.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 write back the result of the operation back to a register in the Register File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 Functions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53600" y="1769850"/>
            <a:ext cx="44607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Addition (A + 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Subtraction (A - 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Bitwise AND (A and 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Bitwise OR (A or 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Bitwise NOR (A nor 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Bitwise XOR (A xor 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Shift (A shifted by B bits)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Comparison (A &gt; B, A &lt; B, A = B)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6675" y="1308150"/>
            <a:ext cx="3990600" cy="301789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387900" y="1308150"/>
            <a:ext cx="329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Takes two 8-bit inputs A/B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87900" y="39335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Level Diagram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600" y="1376225"/>
            <a:ext cx="5570501" cy="342695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419450" y="1439075"/>
            <a:ext cx="27090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immediate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imm_en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Write_Address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Read_Address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clk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func_code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RorL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LorA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Result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Overflow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Equal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87900" y="458025"/>
            <a:ext cx="28464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File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243900"/>
            <a:ext cx="349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Seven 8-bit Registers and a Zero Register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Writes either Imm or our result from the ALU into a register based on immediate_en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Writes to the register designated by C_sel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Reads values from two registers to outputs A and B based on A_sel and B_sel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825" y="1333313"/>
            <a:ext cx="4332026" cy="305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 bit Register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950" y="4075500"/>
            <a:ext cx="59436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0200" y="2325438"/>
            <a:ext cx="2234250" cy="15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/>
        </p:nvSpPr>
        <p:spPr>
          <a:xfrm>
            <a:off x="663750" y="4233750"/>
            <a:ext cx="124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Array of 8 DFFs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038425" y="2912263"/>
            <a:ext cx="124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Inside of a DFF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8151" y="360150"/>
            <a:ext cx="3378400" cy="1758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501275" y="1490500"/>
            <a:ext cx="3291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store bits in our registers, we use D Flip Flops, which either: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Take in a new value from D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Hold the same value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based on the clk signal.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 DFFs allows us to store 8 bits based on the rising edge of clk.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 bit Register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138" y="829800"/>
            <a:ext cx="2410176" cy="11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6237250" y="1541900"/>
            <a:ext cx="52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Roboto"/>
                <a:ea typeface="Roboto"/>
                <a:cs typeface="Roboto"/>
                <a:sym typeface="Roboto"/>
              </a:rPr>
              <a:t>reg</a:t>
            </a:r>
            <a:endParaRPr sz="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9254" y="2104988"/>
            <a:ext cx="4236796" cy="6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413725" y="1507600"/>
            <a:ext cx="3291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add an 8x2 multiplexer to choose to store a new value based on the write enable signal.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6510" y="3120825"/>
            <a:ext cx="2996524" cy="1111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19"/>
          <p:cNvCxnSpPr/>
          <p:nvPr/>
        </p:nvCxnSpPr>
        <p:spPr>
          <a:xfrm flipH="1" rot="10800000">
            <a:off x="413725" y="2932563"/>
            <a:ext cx="8143800" cy="5700"/>
          </a:xfrm>
          <a:prstGeom prst="straightConnector1">
            <a:avLst/>
          </a:prstGeom>
          <a:noFill/>
          <a:ln cap="flat" cmpd="sng" w="76200">
            <a:solidFill>
              <a:srgbClr val="CFE2F3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16" name="Google Shape;11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8576" y="4320225"/>
            <a:ext cx="5158149" cy="6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387900" y="3313575"/>
            <a:ext cx="3291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then use two 8-bit tri-state buffers with enable signals to choose if the register is read to outputs A and B based on the A/B read enable signals.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87900" y="458025"/>
            <a:ext cx="26547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Multiplexers</a:t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87900" y="1489825"/>
            <a:ext cx="3826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Chooses to output either A or B to Y depending on the selection bit (S).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transmission gates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use an array of them to make an 8x2 Multiplexer</a:t>
            </a:r>
            <a:endParaRPr/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160" y="798300"/>
            <a:ext cx="1286314" cy="18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2525" y="798300"/>
            <a:ext cx="2695551" cy="1822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2537" y="3210865"/>
            <a:ext cx="2558376" cy="17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/>
        </p:nvSpPr>
        <p:spPr>
          <a:xfrm>
            <a:off x="5340050" y="313200"/>
            <a:ext cx="164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input multiplexer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0975" y="3806550"/>
            <a:ext cx="4581176" cy="106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3939875" y="3351675"/>
            <a:ext cx="19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8x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input multiplexers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87900" y="458025"/>
            <a:ext cx="33405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Tri-state Buffers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87900" y="1489825"/>
            <a:ext cx="4260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used 2 different types of tri-state buffers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based on logic gates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based on transmission gates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found that when using transmission gates in IRSIM, our tri-state buffers allowed signals through both ways, which would corrupt our registers</a:t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3450" y="1144125"/>
            <a:ext cx="1035225" cy="138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9575" y="1291363"/>
            <a:ext cx="1209675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5555275" y="570225"/>
            <a:ext cx="304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Transmission gate Buffers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5275" y="3170725"/>
            <a:ext cx="1071575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6002725" y="2709025"/>
            <a:ext cx="21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Logic gate Buffers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Register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387900" y="1489825"/>
            <a:ext cx="32604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Outputs 0 for all 8 bits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Since we don’t need to write to this register, we can short all the bits to VSS.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Don’t need a write enable signal, but still need 2 buffers for read enable signals.</a:t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075" y="3149026"/>
            <a:ext cx="4692475" cy="137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6425" y="1096500"/>
            <a:ext cx="2257765" cy="170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87900" y="458025"/>
            <a:ext cx="39636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 and Writing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87900" y="1489825"/>
            <a:ext cx="3603300" cy="32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choose which register to read/write using decoders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first bit of C_sel is used as the write enable bit (enabled at 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C_sel sends enable signals to each 8x2 multiplexer to tell it when to write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A_sel and B_sel send enable signals to our buffers to tell them when to read</a:t>
            </a:r>
            <a:endParaRPr/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850" y="458025"/>
            <a:ext cx="2173700" cy="233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1375" y="3000725"/>
            <a:ext cx="4267575" cy="177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2493" y="434325"/>
            <a:ext cx="1348100" cy="238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a Value to Write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87900" y="1489825"/>
            <a:ext cx="3774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either write a value directly into a register (Imm), or take our output from our ALU </a:t>
            </a:r>
            <a:r>
              <a:rPr lang="en"/>
              <a:t>( C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an 8x2 Multiplexer</a:t>
            </a:r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8600" y="1519650"/>
            <a:ext cx="2907075" cy="10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File Review</a:t>
            </a:r>
            <a:endParaRPr/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524799"/>
            <a:ext cx="3993251" cy="281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6950" y="1524800"/>
            <a:ext cx="4114926" cy="28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Logic Unit (ALU)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483150" y="1346775"/>
            <a:ext cx="280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Executes various functions based on function codes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Takes in two 8-bit numbers (A and 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Outputs an 8-bit number and an overflow signal for Addition/Subtraction</a:t>
            </a:r>
            <a:endParaRPr/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775" y="1379400"/>
            <a:ext cx="4378051" cy="306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387900" y="458025"/>
            <a:ext cx="41577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Addition/Subtraction</a:t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387900" y="1489825"/>
            <a:ext cx="37407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Primarily uses mirror adders to produce the sum and carry out bits.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S_bar will be inverted and sent to be part of the result.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Carry outs will be added to the next most significant bit.</a:t>
            </a:r>
            <a:endParaRPr/>
          </a:p>
        </p:txBody>
      </p:sp>
      <p:pic>
        <p:nvPicPr>
          <p:cNvPr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875" y="652323"/>
            <a:ext cx="3330324" cy="17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7975" y="2632433"/>
            <a:ext cx="3740701" cy="1936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Addition/Subtraction</a:t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387900" y="1489825"/>
            <a:ext cx="3860700" cy="22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Subtraction is produced by adding an XOR gate with inputs B and K (subtract enable)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Overflow will be triggered by the carry out of the MSB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Will also be triggered by underflow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Outputs will be enabled/disabled with the 8 bit buffer.</a:t>
            </a:r>
            <a:endParaRPr/>
          </a:p>
        </p:txBody>
      </p:sp>
      <p:pic>
        <p:nvPicPr>
          <p:cNvPr id="193" name="Google Shape;1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4325" y="1212400"/>
            <a:ext cx="3131475" cy="219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2200" y="3796675"/>
            <a:ext cx="59436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AND/OR/XOR/NOR</a:t>
            </a:r>
            <a:endParaRPr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387900" y="1489825"/>
            <a:ext cx="3900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 bitwise logic using an array of logic gates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Buffers added to the result for enabling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Takes two 8-bit inputs and outputs the respective logic applied to individual bits of the inputs.</a:t>
            </a:r>
            <a:endParaRPr/>
          </a:p>
        </p:txBody>
      </p:sp>
      <p:pic>
        <p:nvPicPr>
          <p:cNvPr id="201" name="Google Shape;20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400" y="1342225"/>
            <a:ext cx="942975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AND/OR/XOR/NOR</a:t>
            </a:r>
            <a:endParaRPr/>
          </a:p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3096800" y="1415524"/>
            <a:ext cx="21174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Basic Logic Gates:</a:t>
            </a:r>
            <a:endParaRPr/>
          </a:p>
        </p:txBody>
      </p:sp>
      <p:sp>
        <p:nvSpPr>
          <p:cNvPr id="208" name="Google Shape;208;p30"/>
          <p:cNvSpPr txBox="1"/>
          <p:nvPr/>
        </p:nvSpPr>
        <p:spPr>
          <a:xfrm>
            <a:off x="895175" y="2133000"/>
            <a:ext cx="93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2-input AND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147" y="2490625"/>
            <a:ext cx="1295728" cy="222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450" y="2490625"/>
            <a:ext cx="1228450" cy="2229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0000" y="2490625"/>
            <a:ext cx="1983345" cy="2229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7288" y="2505475"/>
            <a:ext cx="848925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0"/>
          <p:cNvSpPr txBox="1"/>
          <p:nvPr/>
        </p:nvSpPr>
        <p:spPr>
          <a:xfrm>
            <a:off x="2917600" y="2133325"/>
            <a:ext cx="93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2-input OR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4983300" y="2133325"/>
            <a:ext cx="93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2-input XOR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6814363" y="2133000"/>
            <a:ext cx="93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2-input NOR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Bitwise AND/OR/XOR/NOR</a:t>
            </a:r>
            <a:endParaRPr/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9063" y="3494350"/>
            <a:ext cx="2362678" cy="12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/>
        </p:nvSpPr>
        <p:spPr>
          <a:xfrm>
            <a:off x="5277863" y="3124975"/>
            <a:ext cx="28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NOR2x8 + Buffer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3" name="Google Shape;22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4638" y="3494351"/>
            <a:ext cx="3101001" cy="12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1"/>
          <p:cNvSpPr txBox="1"/>
          <p:nvPr/>
        </p:nvSpPr>
        <p:spPr>
          <a:xfrm>
            <a:off x="1344025" y="3124975"/>
            <a:ext cx="28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OR2x8 + Buffer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5" name="Google Shape;22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4647" y="1649875"/>
            <a:ext cx="3176275" cy="13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1"/>
          <p:cNvSpPr txBox="1"/>
          <p:nvPr/>
        </p:nvSpPr>
        <p:spPr>
          <a:xfrm>
            <a:off x="1344025" y="1288525"/>
            <a:ext cx="28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2x8 + Buffer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7" name="Google Shape;22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2850" y="1730275"/>
            <a:ext cx="3675099" cy="117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1"/>
          <p:cNvSpPr txBox="1"/>
          <p:nvPr/>
        </p:nvSpPr>
        <p:spPr>
          <a:xfrm>
            <a:off x="5277850" y="1338075"/>
            <a:ext cx="28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XOR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2x8 + Buffer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Shifting</a:t>
            </a:r>
            <a:endParaRPr/>
          </a:p>
        </p:txBody>
      </p:sp>
      <p:sp>
        <p:nvSpPr>
          <p:cNvPr id="234" name="Google Shape;234;p32"/>
          <p:cNvSpPr txBox="1"/>
          <p:nvPr>
            <p:ph idx="1" type="body"/>
          </p:nvPr>
        </p:nvSpPr>
        <p:spPr>
          <a:xfrm>
            <a:off x="387900" y="1489825"/>
            <a:ext cx="3964500" cy="26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Uses multiplexers to shift bits from input A by a number of bits based on input B (shift_amount)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Input from RightOrLeft will determine the direction of the shift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Input from sign_extend will determine if the shift will result in the newly added bits will turn to 0 or 1</a:t>
            </a:r>
            <a:endParaRPr/>
          </a:p>
        </p:txBody>
      </p:sp>
      <p:pic>
        <p:nvPicPr>
          <p:cNvPr id="235" name="Google Shape;2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9975" y="1221900"/>
            <a:ext cx="3964423" cy="2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0800" y="4202450"/>
            <a:ext cx="5943600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Comparator</a:t>
            </a:r>
            <a:endParaRPr/>
          </a:p>
        </p:txBody>
      </p:sp>
      <p:sp>
        <p:nvSpPr>
          <p:cNvPr id="242" name="Google Shape;242;p33"/>
          <p:cNvSpPr txBox="1"/>
          <p:nvPr>
            <p:ph idx="1" type="body"/>
          </p:nvPr>
        </p:nvSpPr>
        <p:spPr>
          <a:xfrm>
            <a:off x="387900" y="1489825"/>
            <a:ext cx="3111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logic gates to check if A is greater than, less than, or equal to 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Will output: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00000100 if A &gt; 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00000010 if A = 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00000001 if A &lt; B</a:t>
            </a:r>
            <a:endParaRPr/>
          </a:p>
        </p:txBody>
      </p:sp>
      <p:pic>
        <p:nvPicPr>
          <p:cNvPr id="243" name="Google Shape;24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675" y="1709600"/>
            <a:ext cx="1969975" cy="17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3"/>
          <p:cNvSpPr txBox="1"/>
          <p:nvPr/>
        </p:nvSpPr>
        <p:spPr>
          <a:xfrm>
            <a:off x="4910263" y="1155863"/>
            <a:ext cx="22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bit comparator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3000" y="1709599"/>
            <a:ext cx="2727093" cy="17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Comparator</a:t>
            </a:r>
            <a:endParaRPr/>
          </a:p>
        </p:txBody>
      </p:sp>
      <p:pic>
        <p:nvPicPr>
          <p:cNvPr id="251" name="Google Shape;25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563" y="2273425"/>
            <a:ext cx="2813000" cy="147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913" y="3817675"/>
            <a:ext cx="3034325" cy="9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4"/>
          <p:cNvSpPr txBox="1"/>
          <p:nvPr/>
        </p:nvSpPr>
        <p:spPr>
          <a:xfrm>
            <a:off x="950625" y="1741950"/>
            <a:ext cx="190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bit comparator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4" name="Google Shape;25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5575" y="3883862"/>
            <a:ext cx="4937425" cy="73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2293" y="2273428"/>
            <a:ext cx="4003980" cy="139357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4"/>
          <p:cNvSpPr txBox="1"/>
          <p:nvPr/>
        </p:nvSpPr>
        <p:spPr>
          <a:xfrm>
            <a:off x="5259838" y="1741950"/>
            <a:ext cx="190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bit comparator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Codes</a:t>
            </a:r>
            <a:endParaRPr/>
          </a:p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000: Add (A+B)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001: Subtract (A-B)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010: Bitwise And (A and 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011: Bitwise Or (A or 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100: Bitwise Xor (A xor 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101: Bitwise Nor (A nor 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110: Shift (Shifts A by B number of bits up to 3), RorL (0: Right 1: Left), LorA (0: Logical 1: Arithmatic)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111: Compare (Compares A with B) Outputs GEL: Last three binary digits. Greater Equal Less.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Equal Block</a:t>
            </a:r>
            <a:endParaRPr/>
          </a:p>
        </p:txBody>
      </p:sp>
      <p:sp>
        <p:nvSpPr>
          <p:cNvPr id="268" name="Google Shape;268;p36"/>
          <p:cNvSpPr txBox="1"/>
          <p:nvPr>
            <p:ph idx="1" type="body"/>
          </p:nvPr>
        </p:nvSpPr>
        <p:spPr>
          <a:xfrm>
            <a:off x="387900" y="1489825"/>
            <a:ext cx="3711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an array of 2-input XOR gates and and an 8-input NOR gate to determine if input A is equal to input B.</a:t>
            </a:r>
            <a:endParaRPr/>
          </a:p>
        </p:txBody>
      </p:sp>
      <p:pic>
        <p:nvPicPr>
          <p:cNvPr id="269" name="Google Shape;2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3025" y="1896171"/>
            <a:ext cx="4153250" cy="135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3025" y="3247325"/>
            <a:ext cx="4153250" cy="17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00" y="2895750"/>
            <a:ext cx="3935476" cy="213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Layout</a:t>
            </a:r>
            <a:endParaRPr/>
          </a:p>
        </p:txBody>
      </p:sp>
      <p:pic>
        <p:nvPicPr>
          <p:cNvPr id="277" name="Google Shape;2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25" y="1934187"/>
            <a:ext cx="3297925" cy="200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7" title="Screenshot 2025-05-12 1127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8626" y="1964634"/>
            <a:ext cx="5054326" cy="194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276" y="1582963"/>
            <a:ext cx="5055437" cy="2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66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